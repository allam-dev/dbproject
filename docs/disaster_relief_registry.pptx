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4142E7-379D-4776-84CF-B5056488663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D65A5D-64B6-4E42-B500-A41433B653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DDC0AF-AC87-481B-969A-D60C89D51F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CA8FCA-4BB6-42C7-A579-1855CCE95C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2CC6A-5EF2-461D-BF91-C5F6D44375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835E4-C073-4ECA-8733-11BCECC517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481137-A23E-4B21-A94A-704748C9C0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ACF1BC-5BD4-488B-AE45-AF4D0C3188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8EDF12-24A9-4F4B-9938-1C0A406774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CE6AAC-B500-4189-84AF-3264F0D3F1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DE4BB4-9160-4DE9-8745-0DFB238C7B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A2FD39-DF42-4654-A85C-400975E3CB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Allam-dev/dbproje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731520"/>
            <a:ext cx="3200040" cy="3200040"/>
          </a:xfrm>
          <a:prstGeom prst="ellipse">
            <a:avLst/>
          </a:prstGeom>
          <a:solidFill>
            <a:srgbClr val="8B3A2A">
              <a:alpha val="30000"/>
            </a:srgbClr>
          </a:solidFill>
          <a:ln w="12700">
            <a:solidFill>
              <a:srgbClr val="8B3A2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772400" y="2286000"/>
            <a:ext cx="2285640" cy="2285640"/>
          </a:xfrm>
          <a:prstGeom prst="ellipse">
            <a:avLst/>
          </a:prstGeom>
          <a:solidFill>
            <a:srgbClr val="C05A3A">
              <a:alpha val="25000"/>
            </a:srgbClr>
          </a:solidFill>
          <a:ln w="12700">
            <a:solidFill>
              <a:srgbClr val="C05A3A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9144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4C5B8"/>
                </a:solidFill>
                <a:effectLst/>
                <a:uFillTx/>
                <a:latin typeface="Calibri"/>
                <a:ea typeface="Calibri"/>
              </a:rPr>
              <a:t>DATABASE SYSTEMS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41732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Disaster Relief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219456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>
                <a:solidFill>
                  <a:srgbClr val="F4C5B8"/>
                </a:solidFill>
                <a:effectLst/>
                <a:uFillTx/>
                <a:latin typeface="Georgia"/>
                <a:ea typeface="Georgia"/>
              </a:rPr>
              <a:t>Volunteer Registry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310896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Skills-based matching for emergency deployment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48640" y="3611880"/>
            <a:ext cx="2742840" cy="36360"/>
          </a:xfrm>
          <a:prstGeom prst="rect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38404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Abdulrahman Allam</a:t>
            </a:r>
            <a:r>
              <a:rPr lang="en-US" sz="13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   |   Academic No: 152300093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15520" y="4343400"/>
            <a:ext cx="4742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Code: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hlinkClick r:id="rId1"/>
              </a:rPr>
              <a:t>https://github.com/Allam-dev/dbproject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Project Overview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274320" y="86868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1280160" y="1005840"/>
            <a:ext cx="731160" cy="731160"/>
          </a:xfrm>
          <a:prstGeom prst="ellipse">
            <a:avLst/>
          </a:prstGeom>
          <a:solidFill>
            <a:srgbClr val="FDEAE4"/>
          </a:solidFill>
          <a:ln w="12700">
            <a:solidFill>
              <a:srgbClr val="FD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280160" y="1005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🗂️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365760" y="19202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Problem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411480" y="242316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Coordinate disaster relief volunteers by matching their skills to emergency event requirements in real 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200400" y="86868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4206240" y="1005840"/>
            <a:ext cx="731160" cy="731160"/>
          </a:xfrm>
          <a:prstGeom prst="ellipse">
            <a:avLst/>
          </a:prstGeom>
          <a:solidFill>
            <a:srgbClr val="FDEAE4"/>
          </a:solidFill>
          <a:ln w="12700">
            <a:solidFill>
              <a:srgbClr val="FD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4206240" y="1005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🎯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3291840" y="19202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Goal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3337560" y="242316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Build a normalized PostgreSQL database with a GUI to manage volunteers, skills, and disaster events.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6126480" y="868680"/>
            <a:ext cx="2742840" cy="34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7132320" y="1005840"/>
            <a:ext cx="731160" cy="731160"/>
          </a:xfrm>
          <a:prstGeom prst="ellipse">
            <a:avLst/>
          </a:prstGeom>
          <a:solidFill>
            <a:srgbClr val="FDEAE4"/>
          </a:solidFill>
          <a:ln w="12700">
            <a:solidFill>
              <a:srgbClr val="FD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7132320" y="1005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🔧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6217920" y="19202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263640" y="2423160"/>
            <a:ext cx="24685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ER model → Relational schema → DDL + sample data → Flutter desktop app connected to PostgreSQL.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0" y="4572000"/>
            <a:ext cx="9143640" cy="571320"/>
          </a:xfrm>
          <a:prstGeom prst="rect">
            <a:avLst/>
          </a:prstGeom>
          <a:solidFill>
            <a:srgbClr val="FDEAE4"/>
          </a:solidFill>
          <a:ln w="12700">
            <a:solidFill>
              <a:srgbClr val="FDEA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365760" y="4572000"/>
            <a:ext cx="84121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Calibri"/>
                <a:ea typeface="Calibri"/>
              </a:rPr>
              <a:t>Tech Stack:  PostgreSQL  •  Flutter (Desktop)  •  SQL DDL  •  ER Modeling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Entity-Relationship Diagram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274320" y="777240"/>
            <a:ext cx="859500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2"/>
          <p:cNvSpPr/>
          <p:nvPr/>
        </p:nvSpPr>
        <p:spPr>
          <a:xfrm>
            <a:off x="274320" y="475488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3 Entities · 3 Relationships · Multivalued &amp; Derived Attributes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ERD — Entities &amp; Relationships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274320" y="77724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274320" y="777240"/>
            <a:ext cx="72720" cy="1261440"/>
          </a:xfrm>
          <a:prstGeom prst="rect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11480" y="8686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5A3A"/>
                </a:solidFill>
                <a:effectLst/>
                <a:uFillTx/>
                <a:latin typeface="Georgia"/>
                <a:ea typeface="Georgia"/>
              </a:rPr>
              <a:t>VOLUNTEER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11480" y="123444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PK: SSN · Attributes: name, status · Multivalued: phone · Derived: number_of_volunteers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709160" y="77724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4709160" y="777240"/>
            <a:ext cx="72720" cy="126144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4846320" y="86868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DISASTER EVENT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4846320" y="123444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PK: id · Attributes: description, status, start_date, end_date · Composite: location (lat, long) · Derived: duration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274320" y="219456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274320" y="2194560"/>
            <a:ext cx="72720" cy="1261440"/>
          </a:xfrm>
          <a:prstGeom prst="rect">
            <a:avLst/>
          </a:prstGeom>
          <a:solidFill>
            <a:srgbClr val="7A5C58"/>
          </a:solidFill>
          <a:ln w="12700">
            <a:solidFill>
              <a:srgbClr val="7A5C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411480" y="22860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A5C58"/>
                </a:solidFill>
                <a:effectLst/>
                <a:uFillTx/>
                <a:latin typeface="Georgia"/>
                <a:ea typeface="Georgia"/>
              </a:rPr>
              <a:t>SKILL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411480" y="265176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PK: id · Attributes: name, category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4709160" y="219456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4709160" y="2194560"/>
            <a:ext cx="72720" cy="1261440"/>
          </a:xfrm>
          <a:prstGeom prst="rect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4846320" y="22860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5A3A"/>
                </a:solidFill>
                <a:effectLst/>
                <a:uFillTx/>
                <a:latin typeface="Georgia"/>
                <a:ea typeface="Georgia"/>
              </a:rPr>
              <a:t>Has (VOLUNTEER ↔ SKILL)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4846320" y="265176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M:N — A volunteer can have many skills; a skill can belong to many volunteers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274320" y="361188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274320" y="3611880"/>
            <a:ext cx="72720" cy="126144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411480" y="37033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Needs (EVENT ↔ SKILL)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411480" y="406908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M:N — An event can require many skills; a skill can be needed by many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4709160" y="3611880"/>
            <a:ext cx="4160160" cy="126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5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3"/>
          <p:cNvSpPr/>
          <p:nvPr/>
        </p:nvSpPr>
        <p:spPr>
          <a:xfrm>
            <a:off x="4709160" y="3611880"/>
            <a:ext cx="72720" cy="1261440"/>
          </a:xfrm>
          <a:prstGeom prst="rect">
            <a:avLst/>
          </a:prstGeom>
          <a:solidFill>
            <a:srgbClr val="7A5C58"/>
          </a:solidFill>
          <a:ln w="12700">
            <a:solidFill>
              <a:srgbClr val="7A5C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4846320" y="37033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A5C58"/>
                </a:solidFill>
                <a:effectLst/>
                <a:uFillTx/>
                <a:latin typeface="Georgia"/>
                <a:ea typeface="Georgia"/>
              </a:rPr>
              <a:t>Assigned (VOLUNTEER ↔ EVENT)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4846320" y="406908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1:N — A volunteer is assigned to at most one active event; an event has many volunteers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Relational Schema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274320" y="777240"/>
            <a:ext cx="85950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274320" y="475488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6 tables · Foreign key constraints · ON DELETE CASCADE &amp; SET NULL policies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Schema — Table Summary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Table 0"/>
          <p:cNvGraphicFramePr/>
          <p:nvPr/>
        </p:nvGraphicFramePr>
        <p:xfrm>
          <a:off x="274320" y="777240"/>
          <a:ext cx="8595000" cy="411444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011680"/>
                <a:gridCol w="2560320"/>
              </a:tblGrid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Table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Key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Foreign Key(s)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Notes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SKILL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 (SERIAL)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Stores skill name &amp; category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DISASTEREVENT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 (SERIAL)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Stores event details, location, dates, status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VOLUNTEER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ssn (VARCHAR)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 → DISASTEREVENT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Optional FK for current assignment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VOLUNTEER_PHONE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(phone, ssn)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ssn → VOLUNTEER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Multivalued phone attribute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VOLUNTEER_SKILLS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(ssn, skill_id)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ssn, skill_id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M:N junction table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5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DISASTEREVENT_SKILLS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(event_id, skill_id)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event_id, skill_id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D181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M:N junction table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DDL — Key Definitions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274320" y="7772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VOLUNTEER Table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274320" y="1170360"/>
            <a:ext cx="4114440" cy="1782720"/>
          </a:xfrm>
          <a:prstGeom prst="rect">
            <a:avLst/>
          </a:prstGeom>
          <a:solidFill>
            <a:srgbClr val="F9EDE9"/>
          </a:solidFill>
          <a:ln w="12700">
            <a:solidFill>
              <a:srgbClr val="F4C5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365760" y="1207080"/>
            <a:ext cx="39315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CREATE TABLE VOLUNTEER (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ssn    VARCHAR(20) PRIMARY KEY,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name   VARCHAR(100) NOT NULL,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status VARCHAR(50) DEFAULT 'available',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id     INT REFERENCES DISASTEREVENT(id)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          ON DELETE SET NULL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4663440" y="77724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VOLUNTEER_SKILLS Junction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4663440" y="1170360"/>
            <a:ext cx="4205880" cy="1782720"/>
          </a:xfrm>
          <a:prstGeom prst="rect">
            <a:avLst/>
          </a:prstGeom>
          <a:solidFill>
            <a:srgbClr val="F9EDE9"/>
          </a:solidFill>
          <a:ln w="12700">
            <a:solidFill>
              <a:srgbClr val="F4C5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4754880" y="1207080"/>
            <a:ext cx="40230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CREATE TABLE VOLUNTEER_SKILLS (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ssn      VARCHAR(20)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  REFERENCES VOLUNTEER(ssn)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  ON DELETE CASCADE,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skill_id INT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  REFERENCES SKILL(id)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  ON DELETE CASCADE,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  PRIMARY KEY (ssn, skill_id)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D1810"/>
                </a:solidFill>
                <a:effectLst/>
                <a:uFillTx/>
                <a:latin typeface="Consolas"/>
                <a:ea typeface="Consolas"/>
              </a:rPr>
              <a:t>);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274320" y="3090600"/>
            <a:ext cx="8595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Design Decisions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9"/>
          <p:cNvSpPr/>
          <p:nvPr/>
        </p:nvSpPr>
        <p:spPr>
          <a:xfrm>
            <a:off x="274320" y="3566160"/>
            <a:ext cx="228240" cy="228240"/>
          </a:xfrm>
          <a:prstGeom prst="ellipse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576000" y="35204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5A3A"/>
                </a:solidFill>
                <a:effectLst/>
                <a:uFillTx/>
                <a:latin typeface="Calibri"/>
                <a:ea typeface="Calibri"/>
              </a:rPr>
              <a:t>SSN as PK: </a:t>
            </a: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Natural, globally unique identifier for volunteers avoids surrogate key overhead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4754880" y="3566160"/>
            <a:ext cx="228240" cy="228240"/>
          </a:xfrm>
          <a:prstGeom prst="ellipse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5056560" y="35204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5A3A"/>
                </a:solidFill>
                <a:effectLst/>
                <a:uFillTx/>
                <a:latin typeface="Calibri"/>
                <a:ea typeface="Calibri"/>
              </a:rPr>
              <a:t>ON DELETE CASCADE: </a:t>
            </a: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Junction tables auto-clean when a volunteer or skill is deleted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274320" y="4206240"/>
            <a:ext cx="228240" cy="228240"/>
          </a:xfrm>
          <a:prstGeom prst="ellipse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576000" y="41605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5A3A"/>
                </a:solidFill>
                <a:effectLst/>
                <a:uFillTx/>
                <a:latin typeface="Calibri"/>
                <a:ea typeface="Calibri"/>
              </a:rPr>
              <a:t>ON DELETE SET NULL: </a:t>
            </a: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Volunteer's event assignment becomes NULL when an event is deleted — preserves volunteer record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4754880" y="4206240"/>
            <a:ext cx="228240" cy="228240"/>
          </a:xfrm>
          <a:prstGeom prst="ellipse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5056560" y="41605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5A3A"/>
                </a:solidFill>
                <a:effectLst/>
                <a:uFillTx/>
                <a:latin typeface="Calibri"/>
                <a:ea typeface="Calibri"/>
              </a:rPr>
              <a:t>SERIAL PKs: </a:t>
            </a:r>
            <a:r>
              <a:rPr lang="en-US" sz="1100" b="0" u="none" strike="noStrike">
                <a:solidFill>
                  <a:srgbClr val="2D1810"/>
                </a:solidFill>
                <a:effectLst/>
                <a:uFillTx/>
                <a:latin typeface="Calibri"/>
                <a:ea typeface="Calibri"/>
              </a:rPr>
              <a:t>Auto-incrementing IDs for SKILL and DISASTEREVENT for simplicity and performance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Sample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274320" y="7498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Volunteers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" name="Table 0"/>
          <p:cNvGraphicFramePr/>
          <p:nvPr/>
        </p:nvGraphicFramePr>
        <p:xfrm>
          <a:off x="274320" y="1115640"/>
          <a:ext cx="411444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1887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C05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C05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C05A3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123-45-6789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Ahmed Hassan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Deployed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987-65-4321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Sara Mohamed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A8A6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Available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111-22-3333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Omar Khalil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A8A6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Available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Text 3"/>
          <p:cNvSpPr/>
          <p:nvPr/>
        </p:nvSpPr>
        <p:spPr>
          <a:xfrm>
            <a:off x="4754880" y="74988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Skills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Table 1"/>
          <p:cNvGraphicFramePr/>
          <p:nvPr/>
        </p:nvGraphicFramePr>
        <p:xfrm>
          <a:off x="4754880" y="1115640"/>
          <a:ext cx="4114440" cy="182844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</a:tblGrid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Name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C05A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C05A3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Nursing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Medical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CDL License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Transport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First Aid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Medical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Search &amp; Rescue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Emergency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Arabic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Language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Text 4"/>
          <p:cNvSpPr/>
          <p:nvPr/>
        </p:nvSpPr>
        <p:spPr>
          <a:xfrm>
            <a:off x="274320" y="274320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Disaster Events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Table 2"/>
          <p:cNvGraphicFramePr/>
          <p:nvPr/>
        </p:nvGraphicFramePr>
        <p:xfrm>
          <a:off x="274320" y="3108960"/>
          <a:ext cx="8595000" cy="118836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554480"/>
                <a:gridCol w="3566160"/>
              </a:tblGrid>
              <a:tr h="39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Start Date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Required Skills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8B3A2A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Flood in Alexandria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C05A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Active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Jan 10, 2025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Nursing, CDL License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Earthquake response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5A8A6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Resolved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Nov 1, 2024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Search &amp; Rescue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0080">
                      <a:solidFill>
                        <a:srgbClr val="F4C5B8"/>
                      </a:solidFill>
                      <a:prstDash val="solid"/>
                    </a:lnL>
                    <a:lnR w="10080">
                      <a:solidFill>
                        <a:srgbClr val="F4C5B8"/>
                      </a:solidFill>
                      <a:prstDash val="solid"/>
                    </a:lnR>
                    <a:lnT w="10080">
                      <a:solidFill>
                        <a:srgbClr val="F4C5B8"/>
                      </a:solidFill>
                      <a:prstDash val="solid"/>
                    </a:lnT>
                    <a:lnB w="10080">
                      <a:solidFill>
                        <a:srgbClr val="F4C5B8"/>
                      </a:solidFill>
                      <a:prstDash val="solid"/>
                    </a:lnB>
                    <a:solidFill>
                      <a:srgbClr val="FDEAE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Application GUI — Volunteers &amp; Events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274320" y="7498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Volunteer Registry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274320" y="1078920"/>
            <a:ext cx="402300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3"/>
          <p:cNvSpPr/>
          <p:nvPr/>
        </p:nvSpPr>
        <p:spPr>
          <a:xfrm>
            <a:off x="4846320" y="7498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Disaster Events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1" descr="preencoded.png"/>
          <p:cNvPicPr/>
          <p:nvPr/>
        </p:nvPicPr>
        <p:blipFill>
          <a:blip r:embed="rId2"/>
          <a:stretch/>
        </p:blipFill>
        <p:spPr>
          <a:xfrm>
            <a:off x="4846320" y="1078920"/>
            <a:ext cx="402300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274320" y="475488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Built with Flutter · Connected to PostgreSQL · Bottom navigation: Volunteers | Events | Skills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8B3A2A"/>
          </a:solidFill>
          <a:ln w="12700">
            <a:solidFill>
              <a:srgbClr val="8B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365760" y="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Application GUI — Skills &amp; Add Event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274320" y="7498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Skills (grouped by category)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preencoded.png"/>
          <p:cNvPicPr/>
          <p:nvPr/>
        </p:nvPicPr>
        <p:blipFill>
          <a:blip r:embed="rId1"/>
          <a:stretch/>
        </p:blipFill>
        <p:spPr>
          <a:xfrm>
            <a:off x="274320" y="1078920"/>
            <a:ext cx="402300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3"/>
          <p:cNvSpPr/>
          <p:nvPr/>
        </p:nvSpPr>
        <p:spPr>
          <a:xfrm>
            <a:off x="4846320" y="74988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3A2A"/>
                </a:solidFill>
                <a:effectLst/>
                <a:uFillTx/>
                <a:latin typeface="Georgia"/>
                <a:ea typeface="Georgia"/>
              </a:rPr>
              <a:t>Add Event Form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1" descr="preencoded.png"/>
          <p:cNvPicPr/>
          <p:nvPr/>
        </p:nvPicPr>
        <p:blipFill>
          <a:blip r:embed="rId2"/>
          <a:stretch/>
        </p:blipFill>
        <p:spPr>
          <a:xfrm>
            <a:off x="4846320" y="1078920"/>
            <a:ext cx="402300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274320" y="475488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Skills displayed by category · Event form with skill chip selection · Add Skill modal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273960" cy="5143320"/>
          </a:xfrm>
          <a:prstGeom prst="rect">
            <a:avLst/>
          </a:prstGeom>
          <a:solidFill>
            <a:srgbClr val="C05A3A"/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6858000" y="-731520"/>
            <a:ext cx="3200040" cy="3200040"/>
          </a:xfrm>
          <a:prstGeom prst="ellipse">
            <a:avLst/>
          </a:prstGeom>
          <a:solidFill>
            <a:srgbClr val="8B3A2A">
              <a:alpha val="30000"/>
            </a:srgbClr>
          </a:solidFill>
          <a:ln w="12700">
            <a:solidFill>
              <a:srgbClr val="8B3A2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48640" y="731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4C5B8"/>
                </a:solidFill>
                <a:effectLst/>
                <a:uFillTx/>
                <a:latin typeface="Calibri"/>
                <a:ea typeface="Calibri"/>
              </a:rPr>
              <a:t>Summary &amp; Deliverables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12344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What We Built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548640" y="2194560"/>
            <a:ext cx="3840120" cy="1096920"/>
          </a:xfrm>
          <a:prstGeom prst="rect">
            <a:avLst/>
          </a:prstGeom>
          <a:solidFill>
            <a:srgbClr val="8B3A2A">
              <a:alpha val="40000"/>
            </a:srgbClr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685800" y="2423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280160" y="22860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C5B8"/>
                </a:solidFill>
                <a:effectLst/>
                <a:uFillTx/>
                <a:latin typeface="Georgia"/>
                <a:ea typeface="Georgia"/>
              </a:rPr>
              <a:t>ER Diagram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1280160" y="26701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3 entities, 3 relationships, derived &amp; multivalued attrs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4663440" y="2194560"/>
            <a:ext cx="3840120" cy="1096920"/>
          </a:xfrm>
          <a:prstGeom prst="rect">
            <a:avLst/>
          </a:prstGeom>
          <a:solidFill>
            <a:srgbClr val="8B3A2A">
              <a:alpha val="40000"/>
            </a:srgbClr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4800600" y="2423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394960" y="22860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C5B8"/>
                </a:solidFill>
                <a:effectLst/>
                <a:uFillTx/>
                <a:latin typeface="Georgia"/>
                <a:ea typeface="Georgia"/>
              </a:rPr>
              <a:t>Relational Schema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394960" y="26701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6 normalized tables with FK constraints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548640" y="3429000"/>
            <a:ext cx="3840120" cy="1096920"/>
          </a:xfrm>
          <a:prstGeom prst="rect">
            <a:avLst/>
          </a:prstGeom>
          <a:solidFill>
            <a:srgbClr val="8B3A2A">
              <a:alpha val="40000"/>
            </a:srgbClr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685800" y="3657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🗄️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1280160" y="35204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C5B8"/>
                </a:solidFill>
                <a:effectLst/>
                <a:uFillTx/>
                <a:latin typeface="Georgia"/>
                <a:ea typeface="Georgia"/>
              </a:rPr>
              <a:t>PostgreSQL DDL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1280160" y="39045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Full CREATE TABLE statements + sample data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4663440" y="3429000"/>
            <a:ext cx="3840120" cy="1096920"/>
          </a:xfrm>
          <a:prstGeom prst="rect">
            <a:avLst/>
          </a:prstGeom>
          <a:solidFill>
            <a:srgbClr val="8B3A2A">
              <a:alpha val="40000"/>
            </a:srgbClr>
          </a:solidFill>
          <a:ln w="12700">
            <a:solidFill>
              <a:srgbClr val="C05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4800600" y="3657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💻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5394960" y="35204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C5B8"/>
                </a:solidFill>
                <a:effectLst/>
                <a:uFillTx/>
                <a:latin typeface="Georgia"/>
                <a:ea typeface="Georgia"/>
              </a:rPr>
              <a:t>Flutter GUI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5394960" y="390456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Desktop app: Volunteers, Events, Skills screens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548640" y="470916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E7068"/>
                </a:solidFill>
                <a:effectLst/>
                <a:uFillTx/>
                <a:latin typeface="Calibri"/>
                <a:ea typeface="Calibri"/>
              </a:rPr>
              <a:t>Abdulrahman Allam  ·  152300093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LibreOffice/26.2.3.2$Linux_X86_64 LibreOffice_project/7d74455cffae7a589951233f185ae0303c082020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2026-05-14T20:03:43Z</dcterms:created>
  <dc:creator>Abdulrahman Allam</dc:creator>
  <dc:description/>
  <dc:language>en-US</dc:language>
  <cp:lastModifiedBy/>
  <cp:lastPrinted>2026-06-20T18:18:19Z</cp:lastPrinted>
  <dcterms:modified xsi:type="dcterms:W3CDTF">2026-06-20T18:18:32Z</dcterms:modified>
  <cp:revision>2</cp:revision>
  <dc:subject>PptxGenJS Presentation</dc:subject>
  <dc:title>Disaster Relief Volunteer Registry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